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CLV ($)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624-4B05-8804-F26FD4F02E65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624-4B05-8804-F26FD4F02E65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624-4B05-8804-F26FD4F02E65}"/>
              </c:ext>
            </c:extLst>
          </c:dPt>
          <c:dPt>
            <c:idx val="3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624-4B05-8804-F26FD4F02E65}"/>
              </c:ext>
            </c:extLst>
          </c:dPt>
          <c:dPt>
            <c:idx val="4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624-4B05-8804-F26FD4F02E6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Sara Acevedo</c:v>
                </c:pt>
                <c:pt idx="1">
                  <c:v>Barry Lindsey</c:v>
                </c:pt>
                <c:pt idx="2">
                  <c:v>Mary Mcgrath</c:v>
                </c:pt>
                <c:pt idx="3">
                  <c:v>Michael Rodriguez</c:v>
                </c:pt>
                <c:pt idx="4">
                  <c:v>Eric Livingston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19359</c:v>
                </c:pt>
                <c:pt idx="1">
                  <c:v>19628</c:v>
                </c:pt>
                <c:pt idx="2">
                  <c:v>19961</c:v>
                </c:pt>
                <c:pt idx="3">
                  <c:v>20037</c:v>
                </c:pt>
                <c:pt idx="4">
                  <c:v>20839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624-4B05-8804-F26FD4F02E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249-47DE-AD8C-507A59BA4A4D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249-47DE-AD8C-507A59BA4A4D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249-47DE-AD8C-507A59BA4A4D}"/>
              </c:ext>
            </c:extLst>
          </c:dPt>
          <c:dPt>
            <c:idx val="3"/>
            <c:invertIfNegative val="0"/>
            <c:bubble3D val="0"/>
            <c:spPr>
              <a:solidFill>
                <a:srgbClr val="EA58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249-47DE-AD8C-507A59BA4A4D}"/>
              </c:ext>
            </c:extLst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249-47DE-AD8C-507A59BA4A4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Champions</c:v>
                </c:pt>
                <c:pt idx="1">
                  <c:v>Loyal</c:v>
                </c:pt>
                <c:pt idx="2">
                  <c:v>New</c:v>
                </c:pt>
                <c:pt idx="3">
                  <c:v>At Risk</c:v>
                </c:pt>
                <c:pt idx="4">
                  <c:v>Lost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</c:v>
                </c:pt>
                <c:pt idx="1">
                  <c:v>680</c:v>
                </c:pt>
                <c:pt idx="2">
                  <c:v>310</c:v>
                </c:pt>
                <c:pt idx="3">
                  <c:v>590</c:v>
                </c:pt>
                <c:pt idx="4">
                  <c:v>245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249-47DE-AD8C-507A59BA4A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ln w="31750" cap="flat">
              <a:solidFill>
                <a:srgbClr val="0596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65F4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2776</c:v>
                </c:pt>
                <c:pt idx="1">
                  <c:v>8530</c:v>
                </c:pt>
                <c:pt idx="2">
                  <c:v>8099</c:v>
                </c:pt>
                <c:pt idx="3">
                  <c:v>8571</c:v>
                </c:pt>
                <c:pt idx="4">
                  <c:v>7416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CC1-4EB7-A1CA-5004F0DCD6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DF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 Users</c:v>
                </c:pt>
              </c:strCache>
            </c:strRef>
          </c:tx>
          <c:spPr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991B1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814</c:v>
                </c:pt>
                <c:pt idx="1">
                  <c:v>2608</c:v>
                </c:pt>
                <c:pt idx="2">
                  <c:v>2822</c:v>
                </c:pt>
                <c:pt idx="3">
                  <c:v>3644</c:v>
                </c:pt>
                <c:pt idx="4">
                  <c:v>4575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35-413C-91A2-7F01D551DD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EE2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5F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Co-Purchases</c:v>
                </c:pt>
              </c:strCache>
            </c:strRef>
          </c:tx>
          <c:spPr>
            <a:solidFill>
              <a:srgbClr val="164E6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F99-42F8-AFCD-FF7CC2BB9154}"/>
              </c:ext>
            </c:extLst>
          </c:dPt>
          <c:dPt>
            <c:idx val="1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99-42F8-AFCD-FF7CC2BB9154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F99-42F8-AFCD-FF7CC2BB9154}"/>
              </c:ext>
            </c:extLst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F99-42F8-AFCD-FF7CC2BB9154}"/>
              </c:ext>
            </c:extLst>
          </c:dPt>
          <c:dPt>
            <c:idx val="4"/>
            <c:invertIfNegative val="0"/>
            <c:bubble3D val="0"/>
            <c:spPr>
              <a:solidFill>
                <a:srgbClr val="67E8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F99-42F8-AFCD-FF7CC2BB915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64E6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Pair E</c:v>
                </c:pt>
                <c:pt idx="1">
                  <c:v>Pair D</c:v>
                </c:pt>
                <c:pt idx="2">
                  <c:v>Pair C</c:v>
                </c:pt>
                <c:pt idx="3">
                  <c:v>Pair B</c:v>
                </c:pt>
                <c:pt idx="4">
                  <c:v>Pair 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556</c:v>
                </c:pt>
                <c:pt idx="1">
                  <c:v>557</c:v>
                </c:pt>
                <c:pt idx="2">
                  <c:v>568</c:v>
                </c:pt>
                <c:pt idx="3">
                  <c:v>568</c:v>
                </c:pt>
                <c:pt idx="4">
                  <c:v>569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F99-42F8-AFCD-FF7CC2BB91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FFA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229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560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TechFlow SaaS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810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· Revenue · Retention Intelligence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2176272"/>
            <a:ext cx="237744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331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74320" y="2633472"/>
            <a:ext cx="77724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6334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$5.28M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" y="26609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plan — highest revenue tier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74320" y="3291840"/>
            <a:ext cx="77724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29184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5.6×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33192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growth: 814 → 4,575 users (5 months)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74320" y="3950208"/>
            <a:ext cx="77724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9502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39776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payment success rate maintained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274320" y="4608576"/>
            <a:ext cx="77724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6085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" y="4636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bundling patterns identified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274320" y="5266944"/>
            <a:ext cx="77724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526694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" y="52943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usage signals a strong power-user base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023360" y="292608"/>
            <a:ext cx="786384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23360" y="292608"/>
            <a:ext cx="137160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34747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279392" y="56692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companies lack unified visibility across user behavior, subscriptions, and revenue streams. Data lives in silos — product teams can't measure adoption, finance can't track CLV, and retention teams operate blind. The result: poor prioritization, missed churn signals, and untapped revenue opportunities.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23360" y="1353312"/>
            <a:ext cx="3794760" cy="1298448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023360" y="1353312"/>
            <a:ext cx="137160" cy="1298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79392" y="14081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279392" y="1627632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comprehensive SQL-driven analytics system that tracks the complete user lifecycle — from first subscription to churn — while generating revenue, retention, and product adoption intelligence for data-driven decision-making.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01000" y="1353312"/>
            <a:ext cx="3886200" cy="1298448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01000" y="1353312"/>
            <a:ext cx="137160" cy="12984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57032" y="14081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BUILT — DATA ARCHITECTURE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257032" y="162763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— demographics, segmentation, location &amp; account attributes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&amp; Payments — full revenue tracking &amp; payment status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Subscription Items — adoption, bundling &amp; tier analysis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Activities — engagement events, API calls &amp; feature usage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023360" y="2798064"/>
            <a:ext cx="7863840" cy="914400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023360" y="2798064"/>
            <a:ext cx="13716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79392" y="285292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279392" y="3127248"/>
            <a:ext cx="129844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79392" y="3127248"/>
            <a:ext cx="12984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
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computation per user &amp; segment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5824728" y="3127248"/>
            <a:ext cx="129844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24728" y="3127248"/>
            <a:ext cx="12984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
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Recency, Frequency &amp; Monetary segmentation model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7370064" y="3127248"/>
            <a:ext cx="129844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70064" y="3127248"/>
            <a:ext cx="12984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
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analysis with growth rate tracking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8915400" y="3127248"/>
            <a:ext cx="129844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15400" y="3127248"/>
            <a:ext cx="12984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
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Cohort-based churn detection &amp; risk scoring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10460736" y="3127248"/>
            <a:ext cx="129844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60736" y="3127248"/>
            <a:ext cx="12984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
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co-purchase affinity &amp; bundling insights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023360" y="6217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1M+ records  ·  MySQL · Window Functions · CTEs · Advanced Analytics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TECHFLOW SAAS ANALYTICS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338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Analysis Dashboard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01168" y="786384"/>
            <a:ext cx="374904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877824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— Top 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" y="3291840"/>
            <a:ext cx="37490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3310128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Top customers drive disproportionate revenue concentration — personalized retention is critical.</a:t>
            </a:r>
            <a:endParaRPr lang="en-US" sz="78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56032" y="1042416"/>
          <a:ext cx="3621024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4160520" y="786384"/>
            <a:ext cx="374904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325112" y="877824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— User Distribution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160520" y="3291840"/>
            <a:ext cx="37490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70248" y="3310128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Loyal and At-Risk users represent the highest-priority segments for targeted retention campaigns.</a:t>
            </a:r>
            <a:endParaRPr lang="en-US" sz="780" dirty="0"/>
          </a:p>
        </p:txBody>
      </p:sp>
      <p:graphicFrame>
        <p:nvGraphicFramePr>
          <p:cNvPr id="15" name="Chart 1"/>
          <p:cNvGraphicFramePr/>
          <p:nvPr/>
        </p:nvGraphicFramePr>
        <p:xfrm>
          <a:off x="4215384" y="1042416"/>
          <a:ext cx="3621024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Shape 12"/>
          <p:cNvSpPr/>
          <p:nvPr/>
        </p:nvSpPr>
        <p:spPr>
          <a:xfrm>
            <a:off x="8119872" y="786384"/>
            <a:ext cx="3858768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284464" y="877824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Growth ($)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8119872" y="3291840"/>
            <a:ext cx="3858768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229600" y="331012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Spike in May (+207%) followed by volatility — indicates acquisition surge without stable retention.</a:t>
            </a:r>
            <a:endParaRPr lang="en-US" sz="780" dirty="0"/>
          </a:p>
        </p:txBody>
      </p:sp>
      <p:graphicFrame>
        <p:nvGraphicFramePr>
          <p:cNvPr id="20" name="Chart 2"/>
          <p:cNvGraphicFramePr/>
          <p:nvPr/>
        </p:nvGraphicFramePr>
        <p:xfrm>
          <a:off x="8174736" y="1042416"/>
          <a:ext cx="373075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1" name="Shape 16"/>
          <p:cNvSpPr/>
          <p:nvPr/>
        </p:nvSpPr>
        <p:spPr>
          <a:xfrm>
            <a:off x="201168" y="3840480"/>
            <a:ext cx="5760720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365760" y="3931920"/>
            <a:ext cx="543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Trend — Users Lost per Month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201168" y="6144768"/>
            <a:ext cx="57607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10896" y="6163056"/>
            <a:ext cx="5541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Churn increased 5.6× over 5 months (814 → 4,575). Immediate retention intervention required.</a:t>
            </a:r>
            <a:endParaRPr lang="en-US" sz="780" dirty="0"/>
          </a:p>
        </p:txBody>
      </p:sp>
      <p:graphicFrame>
        <p:nvGraphicFramePr>
          <p:cNvPr id="25" name="Chart 3"/>
          <p:cNvGraphicFramePr/>
          <p:nvPr/>
        </p:nvGraphicFramePr>
        <p:xfrm>
          <a:off x="256032" y="4114800"/>
          <a:ext cx="5632704" cy="1627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6" name="Shape 20"/>
          <p:cNvSpPr/>
          <p:nvPr/>
        </p:nvSpPr>
        <p:spPr>
          <a:xfrm>
            <a:off x="6172200" y="3840480"/>
            <a:ext cx="5788152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336792" y="3931920"/>
            <a:ext cx="5458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Bundling — Top Co-Purchase Pairs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6172200" y="6144768"/>
            <a:ext cx="5788152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281928" y="6163056"/>
            <a:ext cx="5568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Consistent bundling frequency (556–569) across top pairs enables a high-margin bundle pricing strategy.</a:t>
            </a:r>
            <a:endParaRPr lang="en-US" sz="780" dirty="0"/>
          </a:p>
        </p:txBody>
      </p:sp>
      <p:graphicFrame>
        <p:nvGraphicFramePr>
          <p:cNvPr id="30" name="Chart 4"/>
          <p:cNvGraphicFramePr/>
          <p:nvPr/>
        </p:nvGraphicFramePr>
        <p:xfrm>
          <a:off x="6227064" y="4114800"/>
          <a:ext cx="5660136" cy="1627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73736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301752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429768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557784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45720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73736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301752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429768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557784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45720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173736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301752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429768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557784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45720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173736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301752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429768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557784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45720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173736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301752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429768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557784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45720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173736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301752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429768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557784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0" y="45720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0" y="173736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0" y="301752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0" y="429768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0" y="557784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72800" y="45720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00" y="173736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72800" y="301752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72800" y="429768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72800" y="5577840"/>
            <a:ext cx="54864" cy="5486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4572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457200" y="1024128"/>
            <a:ext cx="11247120" cy="320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7472" y="1170432"/>
            <a:ext cx="3730752" cy="2304288"/>
          </a:xfrm>
          <a:prstGeom prst="rect">
            <a:avLst/>
          </a:prstGeom>
          <a:solidFill>
            <a:srgbClr val="172554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47472" y="1170432"/>
            <a:ext cx="373075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Revenue Insights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4632" y="1591056"/>
            <a:ext cx="345643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Enterprise plan dominates total revenue at ~$5.28M, significantly outperforming Pro and Basic tiers.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Revenue concentration signals an opportunity to upsell mid-tier customers with targeted feature incentives.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Monthly revenue remains volatile post-May spike — stabilization requires improving Net Revenue Retention (NRR).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279392" y="1170432"/>
            <a:ext cx="3730752" cy="2304288"/>
          </a:xfrm>
          <a:prstGeom prst="rect">
            <a:avLst/>
          </a:prstGeom>
          <a:solidFill>
            <a:srgbClr val="172554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279392" y="1170432"/>
            <a:ext cx="373075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16552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Customer Behavior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416552" y="1591056"/>
            <a:ext cx="345643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High-value CLV users (top 5 averaging $19,900+) contribute a disproportionate share of total subscription revenue.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API usage is the dominant activity type, identifying a technically sophisticated power-user segment worth nurturing.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RFM analysis reveals Loyal (680) and At-Risk (590) segments as the primary focus areas for retention investment.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211312" y="1170432"/>
            <a:ext cx="3730752" cy="2304288"/>
          </a:xfrm>
          <a:prstGeom prst="rect">
            <a:avLst/>
          </a:prstGeom>
          <a:solidFill>
            <a:srgbClr val="172554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211312" y="1170432"/>
            <a:ext cx="3730752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48472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Churn Risk Analysis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348472" y="1591056"/>
            <a:ext cx="345643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Churn surged 5.6× in 5 months — from 814 in April to 4,575 in August — a systemic retention failure signal.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Low product activity levels and delayed payment patterns are the two strongest early-warning churn indicators.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Without intervention, churn trajectory threatens to erode newly acquired revenue faster than growth can compensate.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47472" y="3621024"/>
            <a:ext cx="11466576" cy="969264"/>
          </a:xfrm>
          <a:prstGeom prst="rect">
            <a:avLst/>
          </a:prstGeom>
          <a:solidFill>
            <a:srgbClr val="172554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47472" y="3621024"/>
            <a:ext cx="11466576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2064" y="3703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Product Strategy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12064" y="3959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co-purchase patterns (556–569 pairs) across the top 5 product combinations indicate strong natural bundling behavior. Formalizing these into curated subscription bundles — with volume pricing or feature unlocks — can increase ARPU while reducing individual subscription churn. Cross-sell triggers should be embedded in onboarding and renewal flows to capitalize on existing purchase affinity.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47472" y="470001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47472" y="4974336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" y="4974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68096" y="4974336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High-Value Users — Deploy VIP retention programs, dedicated CSMs, and proactive health scoring for top CLV customers before churn risk escalates.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3273552" y="4974336"/>
            <a:ext cx="347472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73552" y="4974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694176" y="4974336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At-Risk Segments — Build automated win-back campaigns for the 590 At-Risk RFM users using personalized outreach, usage nudges, and discount offers.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6199632" y="4974336"/>
            <a:ext cx="34747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99632" y="4974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620256" y="4974336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Product Bundles — Introduce 2–3 curated bundles based on co-purchase affinity data; price with a 10–15% discount to drive ARPU growth and reduce single-product churn.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9125712" y="4974336"/>
            <a:ext cx="34747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25712" y="4974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546336" y="4974336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Onboarding &amp; Activation — Reduce time-to-value by redesigning the activation funnel; users who hit the activation milestone within 7 days show significantly lower churn rates.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347472" y="5943600"/>
            <a:ext cx="11466576" cy="685800"/>
          </a:xfrm>
          <a:prstGeom prst="rect">
            <a:avLst/>
          </a:prstGeom>
          <a:solidFill>
            <a:srgbClr val="0C1A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47472" y="5943600"/>
            <a:ext cx="13716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4360" y="59893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94360" y="6172200"/>
            <a:ext cx="11109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demonstrates how SQL-driven analytics can convert raw SaaS data — 1M+ records across users, subscriptions, payments, and activities — into actionable business intelligence. The insights generated directly support growth strategy, retention optimization, and revenue maximization decisions at the executive level.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780</Words>
  <Application>Microsoft Office PowerPoint</Application>
  <PresentationFormat>Widescreen</PresentationFormat>
  <Paragraphs>78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Karthik Yeddanapudi</cp:lastModifiedBy>
  <cp:revision>2</cp:revision>
  <dcterms:created xsi:type="dcterms:W3CDTF">2026-04-21T05:18:44Z</dcterms:created>
  <dcterms:modified xsi:type="dcterms:W3CDTF">2026-04-21T05:30:18Z</dcterms:modified>
</cp:coreProperties>
</file>